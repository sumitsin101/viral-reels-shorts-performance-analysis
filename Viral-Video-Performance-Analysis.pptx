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strument Sans Semi Bold"/>
      <p:regular r:id="rId17"/>
    </p:embeddedFont>
    <p:embeddedFont>
      <p:font typeface="Instrument Sans Semi Bold"/>
      <p:regular r:id="rId18"/>
    </p:embeddedFont>
    <p:embeddedFont>
      <p:font typeface="Instrument Sans Semi Bold"/>
      <p:regular r:id="rId19"/>
    </p:embeddedFont>
    <p:embeddedFont>
      <p:font typeface="Instrument Sans Semi Bold"/>
      <p:regular r:id="rId20"/>
    </p:embeddedFont>
    <p:embeddedFont>
      <p:font typeface="Instrument Sans Medium"/>
      <p:regular r:id="rId21"/>
    </p:embeddedFont>
    <p:embeddedFont>
      <p:font typeface="Instrument Sans Medium"/>
      <p:regular r:id="rId22"/>
    </p:embeddedFont>
    <p:embeddedFont>
      <p:font typeface="Instrument Sans Medium"/>
      <p:regular r:id="rId23"/>
    </p:embeddedFont>
    <p:embeddedFont>
      <p:font typeface="Instrument Sans Medium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Viral Video Performance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Analyzing 400 videos across 10 performance metrics to uncover what drives short-form video success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935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386852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Dataset Overview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93790" y="4383405"/>
            <a:ext cx="4203978" cy="3152775"/>
          </a:xfrm>
          <a:prstGeom prst="roundRect">
            <a:avLst>
              <a:gd name="adj" fmla="val 2871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794" y="4606409"/>
            <a:ext cx="646390" cy="64639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4554" y="4784050"/>
            <a:ext cx="290870" cy="29087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16794" y="5468183"/>
            <a:ext cx="2693908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400 Videos Analyzed</a:t>
            </a:r>
            <a:endParaRPr lang="en-US" sz="2100" dirty="0"/>
          </a:p>
        </p:txBody>
      </p:sp>
      <p:sp>
        <p:nvSpPr>
          <p:cNvPr id="8" name="Text 3"/>
          <p:cNvSpPr/>
          <p:nvPr/>
        </p:nvSpPr>
        <p:spPr>
          <a:xfrm>
            <a:off x="1016794" y="5933956"/>
            <a:ext cx="3757970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Our comprehensive dataset spans various niches and formats, providing a rich foundation for analysis.</a:t>
            </a:r>
            <a:endParaRPr lang="en-US" sz="1650" dirty="0"/>
          </a:p>
        </p:txBody>
      </p:sp>
      <p:sp>
        <p:nvSpPr>
          <p:cNvPr id="9" name="Shape 4"/>
          <p:cNvSpPr/>
          <p:nvPr/>
        </p:nvSpPr>
        <p:spPr>
          <a:xfrm>
            <a:off x="5213152" y="4383405"/>
            <a:ext cx="4203978" cy="3152775"/>
          </a:xfrm>
          <a:prstGeom prst="roundRect">
            <a:avLst>
              <a:gd name="adj" fmla="val 2871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6156" y="4606409"/>
            <a:ext cx="646390" cy="64639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13916" y="4784050"/>
            <a:ext cx="290870" cy="29087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436156" y="546818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10 Key Metrics</a:t>
            </a:r>
            <a:endParaRPr lang="en-US" sz="2100" dirty="0"/>
          </a:p>
        </p:txBody>
      </p:sp>
      <p:sp>
        <p:nvSpPr>
          <p:cNvPr id="13" name="Text 6"/>
          <p:cNvSpPr/>
          <p:nvPr/>
        </p:nvSpPr>
        <p:spPr>
          <a:xfrm>
            <a:off x="5436156" y="5933956"/>
            <a:ext cx="3757970" cy="137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Each video was meticulously evaluated against a suite of performance indicators to ensure robust insights.</a:t>
            </a:r>
            <a:endParaRPr lang="en-US" sz="1650" dirty="0"/>
          </a:p>
        </p:txBody>
      </p:sp>
      <p:sp>
        <p:nvSpPr>
          <p:cNvPr id="14" name="Shape 7"/>
          <p:cNvSpPr/>
          <p:nvPr/>
        </p:nvSpPr>
        <p:spPr>
          <a:xfrm>
            <a:off x="9632513" y="4383405"/>
            <a:ext cx="4203978" cy="3152775"/>
          </a:xfrm>
          <a:prstGeom prst="roundRect">
            <a:avLst>
              <a:gd name="adj" fmla="val 2871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55518" y="4606409"/>
            <a:ext cx="646390" cy="646390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33278" y="4784050"/>
            <a:ext cx="290870" cy="29087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855518" y="5468183"/>
            <a:ext cx="2822019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195 Million Total Views</a:t>
            </a:r>
            <a:endParaRPr lang="en-US" sz="2100" dirty="0"/>
          </a:p>
        </p:txBody>
      </p:sp>
      <p:sp>
        <p:nvSpPr>
          <p:cNvPr id="18" name="Text 9"/>
          <p:cNvSpPr/>
          <p:nvPr/>
        </p:nvSpPr>
        <p:spPr>
          <a:xfrm>
            <a:off x="9855518" y="5933956"/>
            <a:ext cx="3757970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Aggregated reach across all analyzed content, demonstrating significant audience engagement.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4593"/>
            <a:ext cx="72409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Preparation Workflow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022044"/>
            <a:ext cx="4196358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196352"/>
            <a:ext cx="36350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Loading &amp; Exploration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68677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Imported dataset using pandas, ran initial checks on structure and statistics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16962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962" y="3022044"/>
            <a:ext cx="4196358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6962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Quality Verification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16962" y="368677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Confirmed zero missing values across all 400 rows and 10 columns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9640133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3022044"/>
            <a:ext cx="4196358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40133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40133" y="368677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Created duration categories and growth percentage calculations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7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141714"/>
            <a:ext cx="6407944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93790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Cleaning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93790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Identified and corrected data entry errors exceeding 100% growth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05</a:t>
            </a:r>
            <a:endParaRPr lang="en-US" sz="17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8548" y="5164455"/>
            <a:ext cx="6407944" cy="30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28548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428548" y="5829181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Loaded cleaned dataset into MySQL for advanced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5801"/>
            <a:ext cx="6087785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Growth Pattern Categories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93790" y="1804273"/>
            <a:ext cx="6286262" cy="1233607"/>
          </a:xfrm>
          <a:prstGeom prst="roundRect">
            <a:avLst>
              <a:gd name="adj" fmla="val 6564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6650" y="1827133"/>
            <a:ext cx="771168" cy="1187887"/>
          </a:xfrm>
          <a:prstGeom prst="roundRect">
            <a:avLst>
              <a:gd name="adj" fmla="val 6943"/>
            </a:avLst>
          </a:prstGeom>
          <a:solidFill>
            <a:srgbClr val="E2E3E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3822" y="2276356"/>
            <a:ext cx="289203" cy="2892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0580" y="201989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Flash Viral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780580" y="2513886"/>
            <a:ext cx="508385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Strong first hour, then gradually declines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93790" y="3230642"/>
            <a:ext cx="6286262" cy="1233607"/>
          </a:xfrm>
          <a:prstGeom prst="roundRect">
            <a:avLst>
              <a:gd name="adj" fmla="val 6564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16650" y="3253502"/>
            <a:ext cx="771168" cy="1187887"/>
          </a:xfrm>
          <a:prstGeom prst="roundRect">
            <a:avLst>
              <a:gd name="adj" fmla="val 6943"/>
            </a:avLst>
          </a:prstGeom>
          <a:solidFill>
            <a:srgbClr val="E2E3E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3822" y="3702725"/>
            <a:ext cx="289203" cy="2892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80580" y="3446264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Early Growth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1780580" y="3940254"/>
            <a:ext cx="508385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Good start with moderate traction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93790" y="4657011"/>
            <a:ext cx="6286262" cy="1233607"/>
          </a:xfrm>
          <a:prstGeom prst="roundRect">
            <a:avLst>
              <a:gd name="adj" fmla="val 6564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16650" y="4679871"/>
            <a:ext cx="771168" cy="1187887"/>
          </a:xfrm>
          <a:prstGeom prst="roundRect">
            <a:avLst>
              <a:gd name="adj" fmla="val 6943"/>
            </a:avLst>
          </a:prstGeom>
          <a:solidFill>
            <a:srgbClr val="E2E3E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3822" y="5129093"/>
            <a:ext cx="289203" cy="28920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0580" y="487263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Balanced Growth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1780580" y="5366623"/>
            <a:ext cx="508385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Performs consistently over time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793790" y="6083379"/>
            <a:ext cx="6286262" cy="1233607"/>
          </a:xfrm>
          <a:prstGeom prst="roundRect">
            <a:avLst>
              <a:gd name="adj" fmla="val 6564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16650" y="6106239"/>
            <a:ext cx="771168" cy="1187887"/>
          </a:xfrm>
          <a:prstGeom prst="roundRect">
            <a:avLst>
              <a:gd name="adj" fmla="val 6943"/>
            </a:avLst>
          </a:prstGeom>
          <a:solidFill>
            <a:srgbClr val="E2E3E9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3822" y="6555462"/>
            <a:ext cx="289203" cy="28920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780580" y="629900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Late Viral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1780580" y="6792992"/>
            <a:ext cx="508385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Not strong initially, goes viral later</a:t>
            </a:r>
            <a:endParaRPr lang="en-US" sz="15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7968" y="1804273"/>
            <a:ext cx="5343287" cy="53432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5236"/>
            <a:ext cx="6027896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Top Revenue-Generating Niches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748909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Weighted by views, hook strength, and retention rate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181582"/>
            <a:ext cx="9129951" cy="51126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3456"/>
            <a:ext cx="60111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Video Duration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782961"/>
            <a:ext cx="44426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Late Viral Performance by Length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732603"/>
            <a:ext cx="7604284" cy="425838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959096" y="2732603"/>
            <a:ext cx="4885015" cy="1689616"/>
          </a:xfrm>
          <a:prstGeom prst="roundRect">
            <a:avLst>
              <a:gd name="adj" fmla="val 5638"/>
            </a:avLst>
          </a:prstGeom>
          <a:solidFill>
            <a:srgbClr val="D4D5D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5910" y="3076694"/>
            <a:ext cx="283488" cy="2268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96212" y="3016091"/>
            <a:ext cx="392108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Finding: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Short videos (avg 11.5 sec) produce the highest percentage of late viral content at 29.2%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5212"/>
            <a:ext cx="94118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Missed Monetization Opportunities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076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 retention videos with below-average first hour views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478042" y="4000024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94%</a:t>
            </a:r>
            <a:endParaRPr lang="en-US" sz="4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932" y="2582347"/>
            <a:ext cx="3402330" cy="34023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55420" y="62681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Peak Retention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675858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Beauty niche video with only 11.8K first hour views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5920145" y="4000024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93%</a:t>
            </a:r>
            <a:endParaRPr lang="en-US" sz="4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035" y="2582347"/>
            <a:ext cx="3402330" cy="34023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897523" y="62681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Travel Content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235893" y="675858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Strong retention but slow initial growth at 2.6%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10362248" y="4000024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92%</a:t>
            </a:r>
            <a:endParaRPr lang="en-US" sz="44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138" y="2582347"/>
            <a:ext cx="3402330" cy="34023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339626" y="62681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Beauty Video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9677995" y="675858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802K total views despite modest 21.5K start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5155168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Music Type Strategy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638" y="1726644"/>
            <a:ext cx="3219926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Late Viral Growth by Music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21638" y="2254925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Viral Track: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13.21% avg growth, 18 late viral videos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1638" y="2656999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Remix: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12.01% avg growth, 18 late viral videos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1638" y="3059073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Trending: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8.55% avg growth, 19 late viral videos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1638" y="3461147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Music: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8.32% avg growth, 22 late viral videos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1638" y="3863221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Original: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8.02% avg growth, 23 late viral videos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4280" y="1752481"/>
            <a:ext cx="6342102" cy="63421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3658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Upload Timing ROI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303770" y="1623536"/>
            <a:ext cx="22860" cy="5417939"/>
          </a:xfrm>
          <a:prstGeom prst="roundRect">
            <a:avLst>
              <a:gd name="adj" fmla="val 333395"/>
            </a:avLst>
          </a:prstGeom>
          <a:solidFill>
            <a:srgbClr val="C8C9CF"/>
          </a:solidFill>
          <a:ln/>
        </p:spPr>
      </p:sp>
      <p:sp>
        <p:nvSpPr>
          <p:cNvPr id="4" name="Shape 2"/>
          <p:cNvSpPr/>
          <p:nvPr/>
        </p:nvSpPr>
        <p:spPr>
          <a:xfrm>
            <a:off x="6589574" y="1816179"/>
            <a:ext cx="544354" cy="22860"/>
          </a:xfrm>
          <a:prstGeom prst="roundRect">
            <a:avLst>
              <a:gd name="adj" fmla="val 333395"/>
            </a:avLst>
          </a:prstGeom>
          <a:solidFill>
            <a:srgbClr val="C8C9CF"/>
          </a:solidFill>
          <a:ln/>
        </p:spPr>
      </p:sp>
      <p:sp>
        <p:nvSpPr>
          <p:cNvPr id="5" name="Shape 3"/>
          <p:cNvSpPr/>
          <p:nvPr/>
        </p:nvSpPr>
        <p:spPr>
          <a:xfrm>
            <a:off x="7111067" y="1623536"/>
            <a:ext cx="408265" cy="408265"/>
          </a:xfrm>
          <a:prstGeom prst="roundRect">
            <a:avLst>
              <a:gd name="adj" fmla="val 18668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9052" y="165752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139684" y="168580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Wednesday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2078117"/>
            <a:ext cx="561415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310,975 ROI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6473" y="2904887"/>
            <a:ext cx="544354" cy="22860"/>
          </a:xfrm>
          <a:prstGeom prst="roundRect">
            <a:avLst>
              <a:gd name="adj" fmla="val 333395"/>
            </a:avLst>
          </a:prstGeom>
          <a:solidFill>
            <a:srgbClr val="C8C9CF"/>
          </a:solidFill>
          <a:ln/>
        </p:spPr>
      </p:sp>
      <p:sp>
        <p:nvSpPr>
          <p:cNvPr id="10" name="Shape 8"/>
          <p:cNvSpPr/>
          <p:nvPr/>
        </p:nvSpPr>
        <p:spPr>
          <a:xfrm>
            <a:off x="7111067" y="2712244"/>
            <a:ext cx="408265" cy="408265"/>
          </a:xfrm>
          <a:prstGeom prst="roundRect">
            <a:avLst>
              <a:gd name="adj" fmla="val 18668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9052" y="274623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222456" y="277451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Sunday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8222456" y="3166824"/>
            <a:ext cx="561415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302,984 ROI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9574" y="3843218"/>
            <a:ext cx="544354" cy="22860"/>
          </a:xfrm>
          <a:prstGeom prst="roundRect">
            <a:avLst>
              <a:gd name="adj" fmla="val 333395"/>
            </a:avLst>
          </a:prstGeom>
          <a:solidFill>
            <a:srgbClr val="C8C9CF"/>
          </a:solidFill>
          <a:ln/>
        </p:spPr>
      </p:sp>
      <p:sp>
        <p:nvSpPr>
          <p:cNvPr id="15" name="Shape 13"/>
          <p:cNvSpPr/>
          <p:nvPr/>
        </p:nvSpPr>
        <p:spPr>
          <a:xfrm>
            <a:off x="7111067" y="3650575"/>
            <a:ext cx="408265" cy="408265"/>
          </a:xfrm>
          <a:prstGeom prst="roundRect">
            <a:avLst>
              <a:gd name="adj" fmla="val 18668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9052" y="3684568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139684" y="371284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Monday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93790" y="4105156"/>
            <a:ext cx="561415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301,135 ROI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96473" y="4781669"/>
            <a:ext cx="544354" cy="22860"/>
          </a:xfrm>
          <a:prstGeom prst="roundRect">
            <a:avLst>
              <a:gd name="adj" fmla="val 333395"/>
            </a:avLst>
          </a:prstGeom>
          <a:solidFill>
            <a:srgbClr val="C8C9CF"/>
          </a:solidFill>
          <a:ln/>
        </p:spPr>
      </p:sp>
      <p:sp>
        <p:nvSpPr>
          <p:cNvPr id="20" name="Shape 18"/>
          <p:cNvSpPr/>
          <p:nvPr/>
        </p:nvSpPr>
        <p:spPr>
          <a:xfrm>
            <a:off x="7111067" y="4589026"/>
            <a:ext cx="408265" cy="408265"/>
          </a:xfrm>
          <a:prstGeom prst="roundRect">
            <a:avLst>
              <a:gd name="adj" fmla="val 18668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9052" y="4623018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222456" y="465129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Tuesday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8222456" y="5043607"/>
            <a:ext cx="561415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290,659 ROI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89574" y="5720120"/>
            <a:ext cx="544354" cy="22860"/>
          </a:xfrm>
          <a:prstGeom prst="roundRect">
            <a:avLst>
              <a:gd name="adj" fmla="val 333395"/>
            </a:avLst>
          </a:prstGeom>
          <a:solidFill>
            <a:srgbClr val="C8C9CF"/>
          </a:solidFill>
          <a:ln/>
        </p:spPr>
      </p:sp>
      <p:sp>
        <p:nvSpPr>
          <p:cNvPr id="25" name="Shape 23"/>
          <p:cNvSpPr/>
          <p:nvPr/>
        </p:nvSpPr>
        <p:spPr>
          <a:xfrm>
            <a:off x="7111067" y="5527477"/>
            <a:ext cx="408265" cy="408265"/>
          </a:xfrm>
          <a:prstGeom prst="roundRect">
            <a:avLst>
              <a:gd name="adj" fmla="val 18668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9052" y="556146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4139684" y="558974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Thursday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793790" y="5982057"/>
            <a:ext cx="561415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285,420 ROI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93790" y="7245548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50546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Strategic Insight: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Wednesday posts generate highest ROI, followed by weekend content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80217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Takeaways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6280190" y="1776770"/>
            <a:ext cx="7556421" cy="1256586"/>
          </a:xfrm>
          <a:prstGeom prst="roundRect">
            <a:avLst>
              <a:gd name="adj" fmla="val 7202"/>
            </a:avLst>
          </a:prstGeom>
          <a:solidFill>
            <a:srgbClr val="505468"/>
          </a:solidFill>
          <a:ln w="7620">
            <a:solidFill>
              <a:srgbClr val="696D8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03194" y="1999774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Niche Selection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503194" y="2465546"/>
            <a:ext cx="7110412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Motivation and Food content drive highest revenue potential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280190" y="3248739"/>
            <a:ext cx="7556421" cy="1256586"/>
          </a:xfrm>
          <a:prstGeom prst="roundRect">
            <a:avLst>
              <a:gd name="adj" fmla="val 7202"/>
            </a:avLst>
          </a:prstGeom>
          <a:solidFill>
            <a:srgbClr val="505468"/>
          </a:solidFill>
          <a:ln w="7620">
            <a:solidFill>
              <a:srgbClr val="696D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03194" y="347174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Duration Strategy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503194" y="3937516"/>
            <a:ext cx="7110412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Short videos excel at late viral growth (29.2%)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280190" y="4720709"/>
            <a:ext cx="7556421" cy="1256586"/>
          </a:xfrm>
          <a:prstGeom prst="roundRect">
            <a:avLst>
              <a:gd name="adj" fmla="val 7202"/>
            </a:avLst>
          </a:prstGeom>
          <a:solidFill>
            <a:srgbClr val="505468"/>
          </a:solidFill>
          <a:ln w="7620">
            <a:solidFill>
              <a:srgbClr val="696D8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03194" y="494371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Music Matters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503194" y="5409486"/>
            <a:ext cx="7110412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Viral tracks and remixes boost growth percentage significantly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6280190" y="6192679"/>
            <a:ext cx="7556421" cy="1256586"/>
          </a:xfrm>
          <a:prstGeom prst="roundRect">
            <a:avLst>
              <a:gd name="adj" fmla="val 7202"/>
            </a:avLst>
          </a:prstGeom>
          <a:solidFill>
            <a:srgbClr val="505468"/>
          </a:solidFill>
          <a:ln w="7620">
            <a:solidFill>
              <a:srgbClr val="696D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03194" y="641568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Timing Optimization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503194" y="6881455"/>
            <a:ext cx="7110412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Wednesday uploads maximize ROI per video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2025-12-06T14:42:26Z</dcterms:created>
  <dcterms:modified xsi:type="dcterms:W3CDTF">2025-12-06T14:42:26Z</dcterms:modified>
</cp:coreProperties>
</file>